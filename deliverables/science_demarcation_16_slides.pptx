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32520" y="50292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29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00032" y="1170432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7BA78"/>
                </a:solidFill>
                <a:latin typeface="Noto Sans CJK SC"/>
              </a:defRPr>
            </a:pPr>
            <a:r>
              <a:t>思想政治理论课 · 第一组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7724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Noto Sans CJK SC"/>
              </a:defRPr>
            </a:pPr>
            <a:r>
              <a:t>科学的划界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8229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从历史上的“错误理论”谈起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840480"/>
            <a:ext cx="7315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5DEE3"/>
                </a:solidFill>
                <a:latin typeface="Noto Sans CJK SC"/>
              </a:defRPr>
            </a:pPr>
            <a:r>
              <a:t>科学为何可靠？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443984"/>
            <a:ext cx="8229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5DEE3"/>
                </a:solidFill>
                <a:latin typeface="Noto Sans CJK SC"/>
              </a:defRPr>
            </a:pPr>
            <a:r>
              <a:t>被推翻的理论，曾经算科学吗？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806440"/>
            <a:ext cx="10652760" cy="22860"/>
          </a:xfrm>
          <a:prstGeom prst="rect">
            <a:avLst/>
          </a:prstGeom>
          <a:solidFill>
            <a:srgbClr val="D7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60533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D7BA78"/>
                </a:solidFill>
                <a:latin typeface="Noto Sans CJK SC"/>
              </a:defRPr>
            </a:pPr>
            <a:r>
              <a:t>引言 + 第一部分  |  16 页精简版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 / 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科学等于永远正确吗？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科学史给出的答案，比“对或错”更复杂。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02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地心说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曾用精密模型解释天体运动；后来被更好的宇宙模型取代。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燃素说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曾是解释燃烧的主流框架；定量实验推动化学理论更新。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5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牛顿力学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5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长期成功解释运动；在特定尺度上由相对论扩展。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理论被修正，不等于它曾经毫无科学价值。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 / 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可靠知识是怎样形成的？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从结论的“正确”转向研究过程的“可检验”。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03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主张能否与可观察的事实联系起来？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公开检验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方法与结果能否接受批评、重复与核查？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5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持续纠错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5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遇到新证据时，能否修正或放弃解释？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科学的可靠性，来自公开检验与自我修正的机制。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 / 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先分清三个概念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不要用今天的答案，简单裁判昨天的探索。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科学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通过系统研究、经验依据与论证形成，并接受检验和修正。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非科学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如艺术、伦理与哲学思辨；目标不同，不意味着错误或低劣。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5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伪科学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5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借科学之名主张权威，却回避可靠证据、检验与反驳。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非科学 ≠ 伪科学 ≠ 后来被证伪的科学理论。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 /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科学划界：边界究竟在哪里？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划界是对主张、方法与研究活动的综合追问。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天文学与占星术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都谈论星体；为什么预测失败后的研究方式不同？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科学与哲学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不能实验检验的思辨，是否就没有自身价值？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5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旧理论与新证据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5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理论被取代，是否意味着它从来不是科学？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划界不是简单贴标签，而是考察证据、方法与发展过程。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 / 理论地图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四种划界思路，照亮四个侧面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它们各有洞见，也各有适用边界。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84248"/>
            <a:ext cx="543153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84248"/>
            <a:ext cx="59436" cy="155448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167128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78608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逻辑实证主义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63824"/>
            <a:ext cx="491947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经验证据：主张如何得到观察支持？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84248"/>
            <a:ext cx="543153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984248"/>
            <a:ext cx="59436" cy="155448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67128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578608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波普尔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163824"/>
            <a:ext cx="491947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可证伪性：什么事实可能反驳理论？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30752"/>
            <a:ext cx="543153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730752"/>
            <a:ext cx="59436" cy="155448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13632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25112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库恩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10328"/>
            <a:ext cx="4919472" cy="26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范式与解谜：能否持续解决问题？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3730752"/>
            <a:ext cx="543153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3730752"/>
            <a:ext cx="59436" cy="155448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13632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325112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拉卡托斯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910328"/>
            <a:ext cx="4919472" cy="26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研究纲领：能否产生新预测与成果？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 / 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逻辑实证主义：主张要面对经验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石里克、卡尔纳普等人强调观察与逻辑分析。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07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011680"/>
            <a:ext cx="5385816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011680"/>
            <a:ext cx="59436" cy="3438144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1945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06040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可以检验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91256"/>
            <a:ext cx="4873752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“在规定气压下，纯水加热到一定温度会沸腾。”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条件明确 → 可以测量 → 能够重复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011680"/>
            <a:ext cx="5385816" cy="3438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011680"/>
            <a:ext cx="59436" cy="3438144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1945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606040"/>
            <a:ext cx="4892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关键困难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191256"/>
            <a:ext cx="4873752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有限次数的观察，无法最终证明所有时候、所有条件下都成立。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经验确证比绝对证实更稳妥。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保留的价值：科学主张不能只靠信念，需要经验依据。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04 / 反驳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波普尔：理论必须承担被反驳的风险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可证伪性说的是“可能被事实推翻”，不是“已经被推翻”。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08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39112"/>
            <a:ext cx="5148072" cy="33284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331720"/>
            <a:ext cx="451713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C2734"/>
                </a:solidFill>
                <a:latin typeface="Noto Sans CJK SC"/>
              </a:defRPr>
            </a:pPr>
            <a:r>
              <a:t>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145536"/>
            <a:ext cx="45171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C2734"/>
                </a:solidFill>
                <a:latin typeface="Noto Sans CJK SC"/>
              </a:defRPr>
            </a:pPr>
            <a:r>
              <a:t>只白天鹅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68496"/>
            <a:ext cx="414223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8737E"/>
                </a:solidFill>
                <a:latin typeface="Noto Sans CJK SC"/>
              </a:defRPr>
            </a:pPr>
            <a:r>
              <a:t>仍不能最终证明“所有天鹅都是白色的”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039112"/>
            <a:ext cx="5148072" cy="3328416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2331720"/>
            <a:ext cx="451713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9F1730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3145536"/>
            <a:ext cx="45171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C2734"/>
                </a:solidFill>
                <a:latin typeface="Noto Sans CJK SC"/>
              </a:defRPr>
            </a:pPr>
            <a:r>
              <a:t>只黑天鹅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3968496"/>
            <a:ext cx="414223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8737E"/>
                </a:solidFill>
                <a:latin typeface="Noto Sans CJK SC"/>
              </a:defRPr>
            </a:pPr>
            <a:r>
              <a:t>作为合格反例，足以在逻辑上否定该全称命题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有限正例与反例的逻辑力量并不对称。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04 / 反驳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但一次异常，未必能立即推翻理论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真实研究中，预测依赖测量、数据与辅助假设。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09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93392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9F1730"/>
                </a:solidFill>
                <a:latin typeface="Noto Sans CJK SC"/>
              </a:defRPr>
            </a:pPr>
            <a:r>
              <a:t>“按理论今晚应看到某天体；实际却没有看到。”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52928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52928"/>
            <a:ext cx="59436" cy="1060704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11810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理论问题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03320"/>
            <a:ext cx="4837175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模型可能需要修正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52928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852928"/>
            <a:ext cx="59436" cy="1060704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11810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仪器故障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703320"/>
            <a:ext cx="4837175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观测结果需要复核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87368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87368"/>
            <a:ext cx="59436" cy="1060704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35254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输入误差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937760"/>
            <a:ext cx="4837175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初始数据可能不准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87368"/>
            <a:ext cx="534924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087368"/>
            <a:ext cx="59436" cy="1060704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35254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条件遗漏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937760"/>
            <a:ext cx="4837175" cy="100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辅助假设需要检查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逻辑上的可反驳性，与实践中的证据判定，不能画等号。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05 / 研究实践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库恩：科学在范式中持续“解谜”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范式包含共同体共享的理论、方法、范例与价值。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10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共享范式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建立共同的研究语言与典型问题。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常规科学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在既有框架内观察、计算与实验。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5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持续解谜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5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将差异转化为明确、可研究的问题。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科学家的日常工作，常常是解决问题，而非每天推翻理论。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05 / 研究实践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预测失败后：天文学与占星术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关键差别在于失败能否推动系统研究。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11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84248"/>
            <a:ext cx="5349240" cy="3447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84248"/>
            <a:ext cx="59436" cy="3447288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4942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天文学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34640"/>
            <a:ext cx="4837175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预测不符 → 形成研究问题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检查观测、重新计算、改进理论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积累可检验的新成果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84248"/>
            <a:ext cx="5349240" cy="3447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984248"/>
            <a:ext cx="59436" cy="3447288"/>
          </a:xfrm>
          <a:prstGeom prst="rect">
            <a:avLst/>
          </a:prstGeom>
          <a:solidFill>
            <a:srgbClr val="6A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24942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占星术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834640"/>
            <a:ext cx="4837175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预测不准 → 难以形成明确问题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缺少对应的系统改进机制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研究积累有限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比较的是研究方式，不是某一次预测是否碰巧说对。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06 / 历史发展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拉卡托斯：考察整个研究纲领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理论不是孤立命题，反常结果也不会自动击倒体系。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12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48256"/>
            <a:ext cx="4206240" cy="3383280"/>
          </a:xfrm>
          <a:prstGeom prst="roundRect">
            <a:avLst>
              <a:gd name="adj" fmla="val 8000"/>
            </a:avLst>
          </a:prstGeom>
          <a:solidFill>
            <a:srgbClr val="F0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64208" y="2871216"/>
            <a:ext cx="2523744" cy="1938528"/>
          </a:xfrm>
          <a:prstGeom prst="roundRect">
            <a:avLst>
              <a:gd name="adj" fmla="val 8000"/>
            </a:avLst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231343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保护带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557016"/>
            <a:ext cx="19202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Noto Sans CJK SC"/>
              </a:defRPr>
            </a:pPr>
            <a:r>
              <a:t>硬核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58968" y="2048256"/>
            <a:ext cx="5797296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58968" y="2048256"/>
            <a:ext cx="59436" cy="146304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313432"/>
            <a:ext cx="5303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硬核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898648"/>
            <a:ext cx="528523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一段研究传统中的核心理论假设。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58968" y="3712463"/>
            <a:ext cx="5797296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58968" y="3712463"/>
            <a:ext cx="59436" cy="146304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977639"/>
            <a:ext cx="5303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保护带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562855"/>
            <a:ext cx="528523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可根据观测调整的初始条件、数据与辅助假设。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轨道预测不符时，可先检查质量数据、其他引力与观测误差。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06 / 历史发展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研究纲领：进步，还是退化？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判断要看一段时间内的理论表现。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13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29968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29968"/>
            <a:ext cx="59436" cy="338328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9514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进步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80360"/>
            <a:ext cx="4837175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提出新的、可检验的预测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新预测获得经验支持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持续扩展人类知识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029968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029968"/>
            <a:ext cx="59436" cy="3383280"/>
          </a:xfrm>
          <a:prstGeom prst="rect">
            <a:avLst/>
          </a:prstGeom>
          <a:solidFill>
            <a:srgbClr val="6A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295144"/>
            <a:ext cx="48554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退化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880360"/>
            <a:ext cx="4837175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主要对已知事实作事后解释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不断增补临时解释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缺少新的经验成果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暂时退化，不等于可以立即宣判其为伪科学。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07 / 辩证判断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为什么不能机械套用单一标准？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四种视角各自抓住科学活动的一个面向。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14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196596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" y="1965960"/>
            <a:ext cx="1956816" cy="731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13969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经验依据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13969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734"/>
                </a:solidFill>
                <a:latin typeface="Noto Sans CJK SC"/>
              </a:defRPr>
            </a:pPr>
            <a:r>
              <a:t>要求主张联系观察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39696"/>
            <a:ext cx="47183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37E"/>
                </a:solidFill>
                <a:latin typeface="Noto Sans CJK SC"/>
              </a:defRPr>
            </a:pPr>
            <a:r>
              <a:t>有限观察不能最终证实普遍定律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2862072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2862072"/>
            <a:ext cx="1956816" cy="731520"/>
          </a:xfrm>
          <a:prstGeom prst="rect">
            <a:avLst/>
          </a:prstGeom>
          <a:solidFill>
            <a:srgbClr val="34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03580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反驳可能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30358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734"/>
                </a:solidFill>
                <a:latin typeface="Noto Sans CJK SC"/>
              </a:defRPr>
            </a:pPr>
            <a:r>
              <a:t>要求理论承担风险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035808"/>
            <a:ext cx="47183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37E"/>
                </a:solidFill>
                <a:latin typeface="Noto Sans CJK SC"/>
              </a:defRPr>
            </a:pPr>
            <a:r>
              <a:t>一次异常不一定决定性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3758183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3758183"/>
            <a:ext cx="1956816" cy="731520"/>
          </a:xfrm>
          <a:prstGeom prst="rect">
            <a:avLst/>
          </a:prstGeom>
          <a:solidFill>
            <a:srgbClr val="34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931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解谜能力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39319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734"/>
                </a:solidFill>
                <a:latin typeface="Noto Sans CJK SC"/>
              </a:defRPr>
            </a:pPr>
            <a:r>
              <a:t>关注持续解决问题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931920"/>
            <a:ext cx="47183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37E"/>
                </a:solidFill>
                <a:latin typeface="Noto Sans CJK SC"/>
              </a:defRPr>
            </a:pPr>
            <a:r>
              <a:t>有解题活动未必足以划界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654296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" y="4654296"/>
            <a:ext cx="1956816" cy="731520"/>
          </a:xfrm>
          <a:prstGeom prst="rect">
            <a:avLst/>
          </a:prstGeom>
          <a:solidFill>
            <a:srgbClr val="34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82803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历史进步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482803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734"/>
                </a:solidFill>
                <a:latin typeface="Noto Sans CJK SC"/>
              </a:defRPr>
            </a:pPr>
            <a:r>
              <a:t>关注新预测与成果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4828032"/>
            <a:ext cx="47183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37E"/>
                </a:solidFill>
                <a:latin typeface="Noto Sans CJK SC"/>
              </a:defRPr>
            </a:pPr>
            <a:r>
              <a:t>判断需要一段时期的比较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07 / 辩证判断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22376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734"/>
                </a:solidFill>
                <a:latin typeface="Noto Sans CJK SC"/>
              </a:defRPr>
            </a:pPr>
            <a:r>
              <a:t>从实践、历史与发展理解科学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3533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8737E"/>
                </a:solidFill>
                <a:latin typeface="Noto Sans CJK SC"/>
              </a:defRPr>
            </a:pPr>
            <a:r>
              <a:t>认识在现实活动中形成，也受时代条件制约。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92240"/>
            <a:ext cx="11155680" cy="16459"/>
          </a:xfrm>
          <a:prstGeom prst="rect">
            <a:avLst/>
          </a:prstGeom>
          <a:solidFill>
            <a:srgbClr val="E5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8737E"/>
                </a:solidFill>
                <a:latin typeface="Noto Sans CJK SC"/>
              </a:defRPr>
            </a:pPr>
            <a:r>
              <a:t>科学的划界 · 引言与第一部分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9064" y="655624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F1730"/>
                </a:solidFill>
                <a:latin typeface="Noto Sans CJK SC"/>
              </a:defRPr>
            </a:pPr>
            <a:r>
              <a:t>15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实践性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认识在实践中形成、发展，并接受检验。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历史性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技术水平与实践条件影响认识边界。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2057400"/>
            <a:ext cx="3584448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5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2057400"/>
            <a:ext cx="59436" cy="301752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224028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F17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5" y="2651760"/>
            <a:ext cx="3090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C2734"/>
                </a:solidFill>
                <a:latin typeface="Noto Sans CJK SC"/>
              </a:defRPr>
            </a:pPr>
            <a:r>
              <a:t>发展性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5" y="3236976"/>
            <a:ext cx="3072384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8737E"/>
                </a:solidFill>
                <a:latin typeface="Noto Sans CJK SC"/>
              </a:defRPr>
            </a:pPr>
            <a:r>
              <a:t>新实践推动认识深化、修正与完善。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5879592"/>
            <a:ext cx="11155680" cy="429768"/>
          </a:xfrm>
          <a:prstGeom prst="roundRect">
            <a:avLst>
              <a:gd name="adj" fmla="val 8000"/>
            </a:avLst>
          </a:prstGeom>
          <a:solidFill>
            <a:srgbClr val="F4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961888"/>
            <a:ext cx="10735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F1730"/>
                </a:solidFill>
                <a:latin typeface="Noto Sans CJK SC"/>
              </a:defRPr>
            </a:pPr>
            <a:r>
              <a:t>“实践检验真理”与“科学划界”相关，但并非同一个完整公式。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F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521207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7BA78"/>
                </a:solidFill>
                <a:latin typeface="Noto Sans CJK SC"/>
              </a:defRPr>
            </a:pPr>
            <a: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097280"/>
            <a:ext cx="107899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Noto Sans CJK SC"/>
              </a:defRPr>
            </a:pPr>
            <a:r>
              <a:t>科学不是“永远正确”的标签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75104"/>
            <a:ext cx="105156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D7E0E4"/>
                </a:solidFill>
                <a:latin typeface="Noto Sans CJK SC"/>
              </a:defRPr>
            </a:pPr>
            <a:r>
              <a:t>而是可检验、可纠错、能发展的求知活动。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5584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29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584448"/>
            <a:ext cx="22860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7BA78"/>
                </a:solidFill>
                <a:latin typeface="Noto Sans CJK SC"/>
              </a:defRPr>
            </a:pPr>
            <a:r>
              <a:t>01 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050791"/>
            <a:ext cx="22860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依据从哪里来？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335584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29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3584448"/>
            <a:ext cx="22860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7BA78"/>
                </a:solidFill>
                <a:latin typeface="Noto Sans CJK SC"/>
              </a:defRPr>
            </a:pPr>
            <a:r>
              <a:t>02 反驳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4050791"/>
            <a:ext cx="22860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什么事实会改变判断？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335584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29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584448"/>
            <a:ext cx="22860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7BA78"/>
                </a:solidFill>
                <a:latin typeface="Noto Sans CJK SC"/>
              </a:defRPr>
            </a:pPr>
            <a:r>
              <a:t>03 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050791"/>
            <a:ext cx="22860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能否持续解决问题？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9448" y="335584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29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82328" y="3584448"/>
            <a:ext cx="22860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7BA78"/>
                </a:solidFill>
                <a:latin typeface="Noto Sans CJK SC"/>
              </a:defRPr>
            </a:pPr>
            <a:r>
              <a:t>04 发展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328" y="4050791"/>
            <a:ext cx="22860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是否产生新的认识？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5586984"/>
            <a:ext cx="10826496" cy="21031"/>
          </a:xfrm>
          <a:prstGeom prst="rect">
            <a:avLst/>
          </a:prstGeom>
          <a:solidFill>
            <a:srgbClr val="D7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83387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Noto Sans CJK SC"/>
              </a:defRPr>
            </a:pPr>
            <a:r>
              <a:t>尊重历史 · 重视实践 · 保持开放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245352"/>
            <a:ext cx="7680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7BA78"/>
                </a:solidFill>
                <a:latin typeface="Noto Sans CJK SC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